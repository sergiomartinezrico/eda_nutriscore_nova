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71" r:id="rId5"/>
    <p:sldId id="259" r:id="rId6"/>
    <p:sldId id="260" r:id="rId7"/>
    <p:sldId id="261" r:id="rId8"/>
    <p:sldId id="272" r:id="rId9"/>
    <p:sldId id="273" r:id="rId10"/>
    <p:sldId id="262" r:id="rId11"/>
    <p:sldId id="263" r:id="rId12"/>
    <p:sldId id="270" r:id="rId13"/>
    <p:sldId id="264" r:id="rId14"/>
    <p:sldId id="269" r:id="rId15"/>
    <p:sldId id="265" r:id="rId16"/>
    <p:sldId id="266" r:id="rId17"/>
    <p:sldId id="267" r:id="rId18"/>
    <p:sldId id="268" r:id="rId19"/>
  </p:sldIdLst>
  <p:sldSz cx="12192000" cy="6858000"/>
  <p:notesSz cx="6858000" cy="9144000"/>
  <p:embeddedFontLst>
    <p:embeddedFont>
      <p:font typeface="Lato" panose="020F0502020204030203" pitchFamily="34" charset="0"/>
      <p:regular r:id="rId21"/>
      <p:bold r:id="rId22"/>
      <p:italic r:id="rId23"/>
      <p:boldItalic r:id="rId24"/>
    </p:embeddedFont>
    <p:embeddedFont>
      <p:font typeface="Poppins" panose="000005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>
          <a:extLst>
            <a:ext uri="{FF2B5EF4-FFF2-40B4-BE49-F238E27FC236}">
              <a16:creationId xmlns:a16="http://schemas.microsoft.com/office/drawing/2014/main" id="{81C4BE4B-BF0E-DDC6-7354-D1FE08E85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>
            <a:extLst>
              <a:ext uri="{FF2B5EF4-FFF2-40B4-BE49-F238E27FC236}">
                <a16:creationId xmlns:a16="http://schemas.microsoft.com/office/drawing/2014/main" id="{844A084A-B899-D213-1595-643F58EB2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:notes">
            <a:extLst>
              <a:ext uri="{FF2B5EF4-FFF2-40B4-BE49-F238E27FC236}">
                <a16:creationId xmlns:a16="http://schemas.microsoft.com/office/drawing/2014/main" id="{BDCBDCE2-AEEA-5CF5-0D0A-73E049AD1B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6948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0D1C0CEA-3371-1A5B-BB18-646B7C3CC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>
            <a:extLst>
              <a:ext uri="{FF2B5EF4-FFF2-40B4-BE49-F238E27FC236}">
                <a16:creationId xmlns:a16="http://schemas.microsoft.com/office/drawing/2014/main" id="{5B4F7964-7910-FD63-29A9-371FEA15F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:notes">
            <a:extLst>
              <a:ext uri="{FF2B5EF4-FFF2-40B4-BE49-F238E27FC236}">
                <a16:creationId xmlns:a16="http://schemas.microsoft.com/office/drawing/2014/main" id="{E612B66E-CFF4-97A0-384D-63A3CA88E6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7203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3C980CD5-7953-87E7-9C50-4C320FEA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>
            <a:extLst>
              <a:ext uri="{FF2B5EF4-FFF2-40B4-BE49-F238E27FC236}">
                <a16:creationId xmlns:a16="http://schemas.microsoft.com/office/drawing/2014/main" id="{11E1266A-62FC-8EA5-4DEC-29346C38A0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:notes">
            <a:extLst>
              <a:ext uri="{FF2B5EF4-FFF2-40B4-BE49-F238E27FC236}">
                <a16:creationId xmlns:a16="http://schemas.microsoft.com/office/drawing/2014/main" id="{AD4AE544-0AFA-CD71-D2FF-49951096F0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65054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EED4C1EA-D234-CE8E-FF68-EF3993704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:notes">
            <a:extLst>
              <a:ext uri="{FF2B5EF4-FFF2-40B4-BE49-F238E27FC236}">
                <a16:creationId xmlns:a16="http://schemas.microsoft.com/office/drawing/2014/main" id="{75EE9586-435C-EB5B-DE98-1EFE67F5C6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9:notes">
            <a:extLst>
              <a:ext uri="{FF2B5EF4-FFF2-40B4-BE49-F238E27FC236}">
                <a16:creationId xmlns:a16="http://schemas.microsoft.com/office/drawing/2014/main" id="{2940073C-3897-0234-0046-15CB2264DC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666925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4A679534-A15D-74D4-C34F-8A0EF5CC8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:notes">
            <a:extLst>
              <a:ext uri="{FF2B5EF4-FFF2-40B4-BE49-F238E27FC236}">
                <a16:creationId xmlns:a16="http://schemas.microsoft.com/office/drawing/2014/main" id="{C31F1CD9-FFDC-70B4-B268-1F33515135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9:notes">
            <a:extLst>
              <a:ext uri="{FF2B5EF4-FFF2-40B4-BE49-F238E27FC236}">
                <a16:creationId xmlns:a16="http://schemas.microsoft.com/office/drawing/2014/main" id="{1B760A22-80B1-8984-254F-9386B71032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386154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jp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jp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676400"/>
            <a:ext cx="11049000" cy="350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895350" y="2057400"/>
            <a:ext cx="104013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¿Mide NutriScore lo que Realmente Importa?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143000" y="4267200"/>
            <a:ext cx="9906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Un análisis exploratorio de la coherencia entre NutriScore y el procesamiento NOVA.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/>
          <p:nvPr/>
        </p:nvSpPr>
        <p:spPr>
          <a:xfrm>
            <a:off x="5619750" y="2409825"/>
            <a:ext cx="952500" cy="47625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2115502" y="2743200"/>
            <a:ext cx="796099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El </a:t>
            </a:r>
            <a:r>
              <a:rPr lang="en-US" sz="4500" b="1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Dilema</a:t>
            </a:r>
            <a:r>
              <a:rPr lang="en-US" sz="4500" b="1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 del </a:t>
            </a:r>
            <a:r>
              <a:rPr lang="en-US" sz="4500" b="1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Consumidor</a:t>
            </a:r>
            <a:endParaRPr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2286000" y="3790950"/>
            <a:ext cx="76200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El etiquetado frontal ha ganado protagonismo. Pero, ¿orientan o confunden? Analizamos si la "nota" nutricional (NutriScore) se alinea con el nivel de procesamiento industrial (NOVA).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498" y="1920240"/>
            <a:ext cx="5286375" cy="3389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920240"/>
            <a:ext cx="5286375" cy="338994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93;p14">
            <a:extLst>
              <a:ext uri="{FF2B5EF4-FFF2-40B4-BE49-F238E27FC236}">
                <a16:creationId xmlns:a16="http://schemas.microsoft.com/office/drawing/2014/main" id="{5A8FA80B-63FE-B6B9-F386-2874CC83D9B1}"/>
              </a:ext>
            </a:extLst>
          </p:cNvPr>
          <p:cNvSpPr txBox="1"/>
          <p:nvPr/>
        </p:nvSpPr>
        <p:spPr>
          <a:xfrm>
            <a:off x="289066" y="684752"/>
            <a:ext cx="796099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El </a:t>
            </a:r>
            <a:r>
              <a:rPr lang="en-US" sz="4500" b="1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Dilema</a:t>
            </a:r>
            <a:r>
              <a:rPr lang="en-US" sz="4500" b="1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 del </a:t>
            </a:r>
            <a:r>
              <a:rPr lang="en-US" sz="4500" b="1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Consumidor</a:t>
            </a:r>
            <a:endParaRPr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66BE979C-D9B4-82F3-E499-0EBA77BAA2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29" y="1920240"/>
            <a:ext cx="5080636" cy="3342523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48FEE255-C3CC-524A-4B98-FC260026FE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5288" y="2031580"/>
            <a:ext cx="4983483" cy="3278607"/>
          </a:xfrm>
          <a:prstGeom prst="rect">
            <a:avLst/>
          </a:prstGeom>
        </p:spPr>
      </p:pic>
      <p:pic>
        <p:nvPicPr>
          <p:cNvPr id="22" name="Gráfico 21">
            <a:extLst>
              <a:ext uri="{FF2B5EF4-FFF2-40B4-BE49-F238E27FC236}">
                <a16:creationId xmlns:a16="http://schemas.microsoft.com/office/drawing/2014/main" id="{A5D47FE0-1167-FEB2-6DCA-0264D23962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01440" y="4251959"/>
            <a:ext cx="1270001" cy="857251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96A33D1F-DE49-5CFE-E988-47B26E91BA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24584" y="4251959"/>
            <a:ext cx="1270001" cy="857251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C27E4DED-D09C-493B-47C5-2AA39657CE2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81672" y="4184521"/>
            <a:ext cx="1270001" cy="857251"/>
          </a:xfrm>
          <a:prstGeom prst="rect">
            <a:avLst/>
          </a:prstGeom>
        </p:spPr>
      </p:pic>
      <p:pic>
        <p:nvPicPr>
          <p:cNvPr id="27" name="Gráfico 26">
            <a:extLst>
              <a:ext uri="{FF2B5EF4-FFF2-40B4-BE49-F238E27FC236}">
                <a16:creationId xmlns:a16="http://schemas.microsoft.com/office/drawing/2014/main" id="{242B45CB-1B8B-581F-DB97-EDC041EAB9F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44634" y="4184521"/>
            <a:ext cx="1270001" cy="8572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8">
          <a:extLst>
            <a:ext uri="{FF2B5EF4-FFF2-40B4-BE49-F238E27FC236}">
              <a16:creationId xmlns:a16="http://schemas.microsoft.com/office/drawing/2014/main" id="{B1247AD1-CE85-621A-17FA-3CAA2C0D7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5" descr="image.png">
            <a:extLst>
              <a:ext uri="{FF2B5EF4-FFF2-40B4-BE49-F238E27FC236}">
                <a16:creationId xmlns:a16="http://schemas.microsoft.com/office/drawing/2014/main" id="{28CDB360-F4A0-620D-F4F2-58F19353BC7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498" y="1920240"/>
            <a:ext cx="5286375" cy="3389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5" descr="image.png">
            <a:extLst>
              <a:ext uri="{FF2B5EF4-FFF2-40B4-BE49-F238E27FC236}">
                <a16:creationId xmlns:a16="http://schemas.microsoft.com/office/drawing/2014/main" id="{E0CFF7C7-AB21-A66B-4B36-CB84CDB957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920240"/>
            <a:ext cx="5286375" cy="3389947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>
            <a:extLst>
              <a:ext uri="{FF2B5EF4-FFF2-40B4-BE49-F238E27FC236}">
                <a16:creationId xmlns:a16="http://schemas.microsoft.com/office/drawing/2014/main" id="{75735A1B-CF55-1721-D637-9115BE6F610B}"/>
              </a:ext>
            </a:extLst>
          </p:cNvPr>
          <p:cNvSpPr txBox="1"/>
          <p:nvPr/>
        </p:nvSpPr>
        <p:spPr>
          <a:xfrm>
            <a:off x="849391" y="2259901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NutriScore</a:t>
            </a:r>
            <a:r>
              <a:rPr lang="en-US" sz="2400" b="0" i="0" u="none" strike="noStrike" cap="none" dirty="0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 (El </a:t>
            </a:r>
            <a:r>
              <a:rPr lang="en-US" sz="2400" b="0" i="0" u="none" strike="noStrike" cap="none" dirty="0" err="1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Semáforo</a:t>
            </a:r>
            <a:r>
              <a:rPr lang="en-US" sz="2400" b="0" i="0" u="none" strike="noStrike" cap="none" dirty="0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 dirty="0"/>
          </a:p>
        </p:txBody>
      </p:sp>
      <p:sp>
        <p:nvSpPr>
          <p:cNvPr id="102" name="Google Shape;102;p15">
            <a:extLst>
              <a:ext uri="{FF2B5EF4-FFF2-40B4-BE49-F238E27FC236}">
                <a16:creationId xmlns:a16="http://schemas.microsoft.com/office/drawing/2014/main" id="{F374A9E5-34A9-D2BE-368A-C81E25B5B16C}"/>
              </a:ext>
            </a:extLst>
          </p:cNvPr>
          <p:cNvSpPr txBox="1"/>
          <p:nvPr/>
        </p:nvSpPr>
        <p:spPr>
          <a:xfrm>
            <a:off x="962025" y="2888551"/>
            <a:ext cx="450532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Clasifica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A (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verde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) a E (rojo) [cite: 1290]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según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nutrientes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azúcares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grasas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sal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fibra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). Mide la </a:t>
            </a:r>
            <a:r>
              <a:rPr lang="en-US" sz="13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calidad</a:t>
            </a:r>
            <a:r>
              <a:rPr lang="en-US" sz="13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nutricional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del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producto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final.</a:t>
            </a:r>
            <a:endParaRPr dirty="0"/>
          </a:p>
        </p:txBody>
      </p:sp>
      <p:sp>
        <p:nvSpPr>
          <p:cNvPr id="103" name="Google Shape;103;p15">
            <a:extLst>
              <a:ext uri="{FF2B5EF4-FFF2-40B4-BE49-F238E27FC236}">
                <a16:creationId xmlns:a16="http://schemas.microsoft.com/office/drawing/2014/main" id="{F5A56081-1285-0F3E-6FF8-46E3E79D970B}"/>
              </a:ext>
            </a:extLst>
          </p:cNvPr>
          <p:cNvSpPr txBox="1"/>
          <p:nvPr/>
        </p:nvSpPr>
        <p:spPr>
          <a:xfrm>
            <a:off x="6612016" y="2104453"/>
            <a:ext cx="473059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Clasificación</a:t>
            </a:r>
            <a:r>
              <a:rPr lang="en-US" sz="2400" b="0" i="0" u="none" strike="noStrike" cap="none" dirty="0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 NOVA (El </a:t>
            </a:r>
            <a:r>
              <a:rPr lang="en-US" sz="2400" b="0" i="0" u="none" strike="noStrike" cap="none" dirty="0" err="1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Procesamiento</a:t>
            </a:r>
            <a:r>
              <a:rPr lang="en-US" sz="2400" b="0" i="0" u="none" strike="noStrike" cap="none" dirty="0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 dirty="0"/>
          </a:p>
        </p:txBody>
      </p:sp>
      <p:sp>
        <p:nvSpPr>
          <p:cNvPr id="104" name="Google Shape;104;p15">
            <a:extLst>
              <a:ext uri="{FF2B5EF4-FFF2-40B4-BE49-F238E27FC236}">
                <a16:creationId xmlns:a16="http://schemas.microsoft.com/office/drawing/2014/main" id="{9E4B4144-0E14-29DE-9A32-2BFB3BD99551}"/>
              </a:ext>
            </a:extLst>
          </p:cNvPr>
          <p:cNvSpPr txBox="1"/>
          <p:nvPr/>
        </p:nvSpPr>
        <p:spPr>
          <a:xfrm>
            <a:off x="6724650" y="3190303"/>
            <a:ext cx="450532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Agrupa de 1 (no procesado) a 4 (ultraprocesado) [cite: 1292] según el </a:t>
            </a: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grado de procesamiento industrial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 Mide el origen y la transformación del alimento.</a:t>
            </a:r>
            <a:endParaRPr/>
          </a:p>
        </p:txBody>
      </p:sp>
      <p:sp>
        <p:nvSpPr>
          <p:cNvPr id="105" name="Google Shape;105;p15">
            <a:extLst>
              <a:ext uri="{FF2B5EF4-FFF2-40B4-BE49-F238E27FC236}">
                <a16:creationId xmlns:a16="http://schemas.microsoft.com/office/drawing/2014/main" id="{49803FCB-E0D1-ACA5-497F-7F6A63E36988}"/>
              </a:ext>
            </a:extLst>
          </p:cNvPr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Los "Jugadores": NutriScore vs. NOVA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1BB6CC8-E5DD-004E-D0C8-239032225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4236" y="3961828"/>
            <a:ext cx="1800725" cy="120262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7A5470B-3970-1670-0EA0-9DC653F503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8628" y="4238623"/>
            <a:ext cx="1760964" cy="771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967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/>
        </p:nvSpPr>
        <p:spPr>
          <a:xfrm>
            <a:off x="571500" y="3052762"/>
            <a:ext cx="5286375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0" b="1" i="0" u="none" strike="noStrike" cap="none" dirty="0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3,534</a:t>
            </a:r>
            <a:endParaRPr dirty="0"/>
          </a:p>
        </p:txBody>
      </p:sp>
      <p:sp>
        <p:nvSpPr>
          <p:cNvPr id="111" name="Google Shape;111;p16"/>
          <p:cNvSpPr txBox="1"/>
          <p:nvPr/>
        </p:nvSpPr>
        <p:spPr>
          <a:xfrm>
            <a:off x="544068" y="4627816"/>
            <a:ext cx="52863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Productos</a:t>
            </a:r>
            <a:r>
              <a:rPr lang="en-US" sz="18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Analizados</a:t>
            </a:r>
            <a:endParaRPr dirty="0"/>
          </a:p>
        </p:txBody>
      </p:sp>
      <p:sp>
        <p:nvSpPr>
          <p:cNvPr id="112" name="Google Shape;112;p16"/>
          <p:cNvSpPr txBox="1"/>
          <p:nvPr/>
        </p:nvSpPr>
        <p:spPr>
          <a:xfrm>
            <a:off x="6334125" y="3119437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El Origen de los Datos</a:t>
            </a:r>
            <a:endParaRPr/>
          </a:p>
        </p:txBody>
      </p:sp>
      <p:sp>
        <p:nvSpPr>
          <p:cNvPr id="113" name="Google Shape;113;p16"/>
          <p:cNvSpPr txBox="1"/>
          <p:nvPr/>
        </p:nvSpPr>
        <p:spPr>
          <a:xfrm>
            <a:off x="6334125" y="3748087"/>
            <a:ext cx="5286375" cy="934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Usamos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base de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datos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colaborativa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Open Food Facts. Se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aplicó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un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riguroso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proceso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limpieza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y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depuración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para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garantizar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fiabilidad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del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análisis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14" name="Google Shape;114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Metodología y Datos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97700" y="2395537"/>
            <a:ext cx="382265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5537"/>
            <a:ext cx="3232100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184600" y="2395537"/>
            <a:ext cx="323210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571500" y="4729162"/>
            <a:ext cx="32321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1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Distribución NutriScore:</a:t>
            </a:r>
            <a:r>
              <a:rPr lang="en-US" sz="1350" b="0" i="1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Predominan 'A' (33.6%) [cite: 1368] y 'E' (20.7%) [cite: 1368].</a:t>
            </a:r>
            <a:endParaRPr/>
          </a:p>
        </p:txBody>
      </p:sp>
      <p:sp>
        <p:nvSpPr>
          <p:cNvPr id="123" name="Google Shape;123;p17"/>
          <p:cNvSpPr txBox="1"/>
          <p:nvPr/>
        </p:nvSpPr>
        <p:spPr>
          <a:xfrm>
            <a:off x="4184600" y="4729162"/>
            <a:ext cx="32321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1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Distribución NOVA:</a:t>
            </a:r>
            <a:r>
              <a:rPr lang="en-US" sz="1350" b="0" i="1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Predomina '4' (Ultraprocesados, 37.4%) [cite: 1111].</a:t>
            </a:r>
            <a:endParaRPr/>
          </a:p>
        </p:txBody>
      </p:sp>
      <p:sp>
        <p:nvSpPr>
          <p:cNvPr id="124" name="Google Shape;124;p17"/>
          <p:cNvSpPr txBox="1"/>
          <p:nvPr/>
        </p:nvSpPr>
        <p:spPr>
          <a:xfrm>
            <a:off x="8092975" y="3333750"/>
            <a:ext cx="32321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2C3E50"/>
                </a:solidFill>
                <a:latin typeface="Lato"/>
                <a:ea typeface="Lato"/>
                <a:cs typeface="Lato"/>
                <a:sym typeface="Lato"/>
              </a:rPr>
              <a:t>Conclusión:</a:t>
            </a:r>
            <a:r>
              <a:rPr lang="en-US" sz="1500" b="0" i="0" u="none" strike="noStrike" cap="none">
                <a:solidFill>
                  <a:srgbClr val="2C3E50"/>
                </a:solidFill>
                <a:latin typeface="Lato"/>
                <a:ea typeface="Lato"/>
                <a:cs typeface="Lato"/>
                <a:sym typeface="Lato"/>
              </a:rPr>
              <a:t> La muestra está polarizada: muchos productos "A" pero también un gran volumen de ultraprocesados.</a:t>
            </a:r>
            <a:endParaRPr/>
          </a:p>
        </p:txBody>
      </p:sp>
      <p:sp>
        <p:nvSpPr>
          <p:cNvPr id="127" name="Google Shape;127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¿Qué encontramos en la base de datos?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E4199BE-A66E-9E60-2C54-780CB38EF4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925" y="2496759"/>
            <a:ext cx="2654223" cy="199066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23CC83B-7888-7D20-53B9-A793C4B4C6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4301" y="2455049"/>
            <a:ext cx="2765451" cy="20740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563624"/>
            <a:ext cx="5286375" cy="4873751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8"/>
          <p:cNvSpPr txBox="1"/>
          <p:nvPr/>
        </p:nvSpPr>
        <p:spPr>
          <a:xfrm>
            <a:off x="571500" y="223837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Hipótesis</a:t>
            </a:r>
            <a:endParaRPr/>
          </a:p>
        </p:txBody>
      </p:sp>
      <p:sp>
        <p:nvSpPr>
          <p:cNvPr id="134" name="Google Shape;134;p18"/>
          <p:cNvSpPr txBox="1"/>
          <p:nvPr/>
        </p:nvSpPr>
        <p:spPr>
          <a:xfrm>
            <a:off x="571500" y="2867025"/>
            <a:ext cx="5286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peor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NutriScore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más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cercano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E)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implica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mayor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contenido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azúcar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grasa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y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sal</a:t>
            </a:r>
            <a:endParaRPr dirty="0"/>
          </a:p>
        </p:txBody>
      </p:sp>
      <p:sp>
        <p:nvSpPr>
          <p:cNvPr id="135" name="Google Shape;135;p18"/>
          <p:cNvSpPr txBox="1"/>
          <p:nvPr/>
        </p:nvSpPr>
        <p:spPr>
          <a:xfrm>
            <a:off x="571500" y="355282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Resultado: VERIFICADA</a:t>
            </a:r>
            <a:endParaRPr/>
          </a:p>
        </p:txBody>
      </p:sp>
      <p:sp>
        <p:nvSpPr>
          <p:cNvPr id="136" name="Google Shape;136;p18"/>
          <p:cNvSpPr txBox="1"/>
          <p:nvPr/>
        </p:nvSpPr>
        <p:spPr>
          <a:xfrm>
            <a:off x="571500" y="4181475"/>
            <a:ext cx="5286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Los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gráficos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(boxplots)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muestran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una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tendencia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clara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 las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medianas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azúcar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y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sal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aumentan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conforme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nota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empeora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</a:t>
            </a:r>
            <a:endParaRPr dirty="0"/>
          </a:p>
        </p:txBody>
      </p:sp>
      <p:sp>
        <p:nvSpPr>
          <p:cNvPr id="137" name="Google Shape;137;p18"/>
          <p:cNvSpPr txBox="1"/>
          <p:nvPr/>
        </p:nvSpPr>
        <p:spPr>
          <a:xfrm>
            <a:off x="571500" y="5124450"/>
            <a:ext cx="5286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grasa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más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dispersa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pero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tendencia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mantiene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Posiblemente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debido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productos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grasas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saludables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39" name="Google Shape;139;p18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H1: ¿Peor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NutriScore</a:t>
            </a: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 = Más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Azúcar</a:t>
            </a: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Grasa</a:t>
            </a: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 y Sal?</a:t>
            </a:r>
            <a:endParaRPr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4CAC305-141B-022A-C3D2-D2E52858E9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91" t="7170" r="63529" b="-3139"/>
          <a:stretch>
            <a:fillRect/>
          </a:stretch>
        </p:blipFill>
        <p:spPr>
          <a:xfrm>
            <a:off x="6997635" y="1623818"/>
            <a:ext cx="3959353" cy="49294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1">
          <a:extLst>
            <a:ext uri="{FF2B5EF4-FFF2-40B4-BE49-F238E27FC236}">
              <a16:creationId xmlns:a16="http://schemas.microsoft.com/office/drawing/2014/main" id="{0621F570-9129-D5FD-C320-E4D6D4DD0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8" descr="image.png">
            <a:extLst>
              <a:ext uri="{FF2B5EF4-FFF2-40B4-BE49-F238E27FC236}">
                <a16:creationId xmlns:a16="http://schemas.microsoft.com/office/drawing/2014/main" id="{7CD54392-B1F9-AB84-F0A3-1A14062CE80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563624"/>
            <a:ext cx="5286375" cy="4873751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8">
            <a:extLst>
              <a:ext uri="{FF2B5EF4-FFF2-40B4-BE49-F238E27FC236}">
                <a16:creationId xmlns:a16="http://schemas.microsoft.com/office/drawing/2014/main" id="{CCDC37F5-5B74-D5CD-8172-79AD6C867D21}"/>
              </a:ext>
            </a:extLst>
          </p:cNvPr>
          <p:cNvSpPr txBox="1"/>
          <p:nvPr/>
        </p:nvSpPr>
        <p:spPr>
          <a:xfrm>
            <a:off x="571500" y="223837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Hipótesis</a:t>
            </a:r>
            <a:endParaRPr/>
          </a:p>
        </p:txBody>
      </p:sp>
      <p:sp>
        <p:nvSpPr>
          <p:cNvPr id="134" name="Google Shape;134;p18">
            <a:extLst>
              <a:ext uri="{FF2B5EF4-FFF2-40B4-BE49-F238E27FC236}">
                <a16:creationId xmlns:a16="http://schemas.microsoft.com/office/drawing/2014/main" id="{0A111311-5CD4-5F94-D5EB-4C72E74356DE}"/>
              </a:ext>
            </a:extLst>
          </p:cNvPr>
          <p:cNvSpPr txBox="1"/>
          <p:nvPr/>
        </p:nvSpPr>
        <p:spPr>
          <a:xfrm>
            <a:off x="571500" y="2867025"/>
            <a:ext cx="5286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peor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NutriScore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más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cercano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E)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implica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mayor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contenido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azúcar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grasa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y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sal</a:t>
            </a:r>
            <a:endParaRPr dirty="0"/>
          </a:p>
        </p:txBody>
      </p:sp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B0BD13BC-371D-07B7-C95C-C19F1D6AFA34}"/>
              </a:ext>
            </a:extLst>
          </p:cNvPr>
          <p:cNvSpPr txBox="1"/>
          <p:nvPr/>
        </p:nvSpPr>
        <p:spPr>
          <a:xfrm>
            <a:off x="571500" y="355282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Resultado: VERIFICADA</a:t>
            </a:r>
            <a:endParaRPr/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ED151175-7A46-CD0C-5539-F0A89DB72D44}"/>
              </a:ext>
            </a:extLst>
          </p:cNvPr>
          <p:cNvSpPr txBox="1"/>
          <p:nvPr/>
        </p:nvSpPr>
        <p:spPr>
          <a:xfrm>
            <a:off x="571500" y="4181475"/>
            <a:ext cx="5286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Los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gráficos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(boxplots)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muestran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una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tendencia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clara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 las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medianas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azúcar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y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sal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aumentan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conforme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nota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empeora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</a:t>
            </a:r>
            <a:endParaRPr dirty="0"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CF5E2F22-1C3D-7C37-840F-738BFAC55349}"/>
              </a:ext>
            </a:extLst>
          </p:cNvPr>
          <p:cNvSpPr txBox="1"/>
          <p:nvPr/>
        </p:nvSpPr>
        <p:spPr>
          <a:xfrm>
            <a:off x="571500" y="5124450"/>
            <a:ext cx="5286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grasa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más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dispersa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pero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tendencia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mantiene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Posiblemente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debido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productos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grasas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saludables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04172C1E-B3A1-B69D-8F93-140BC8701803}"/>
              </a:ext>
            </a:extLst>
          </p:cNvPr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H1: ¿Peor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NutriScore</a:t>
            </a: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 = Más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Azúcar</a:t>
            </a: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Grasa</a:t>
            </a: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 y Sal?</a:t>
            </a:r>
            <a:endParaRPr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8FA7447-120A-E9AB-3BB7-CDEAD99EEE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791" t="7075" r="36229" b="-3044"/>
          <a:stretch>
            <a:fillRect/>
          </a:stretch>
        </p:blipFill>
        <p:spPr>
          <a:xfrm>
            <a:off x="6958583" y="1661088"/>
            <a:ext cx="3914649" cy="487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219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1">
          <a:extLst>
            <a:ext uri="{FF2B5EF4-FFF2-40B4-BE49-F238E27FC236}">
              <a16:creationId xmlns:a16="http://schemas.microsoft.com/office/drawing/2014/main" id="{A863179A-B537-BD86-D6D1-1F5581826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8" descr="image.png">
            <a:extLst>
              <a:ext uri="{FF2B5EF4-FFF2-40B4-BE49-F238E27FC236}">
                <a16:creationId xmlns:a16="http://schemas.microsoft.com/office/drawing/2014/main" id="{086E70C4-99F6-2673-1A49-8E47E52C52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563624"/>
            <a:ext cx="5286375" cy="4873751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8">
            <a:extLst>
              <a:ext uri="{FF2B5EF4-FFF2-40B4-BE49-F238E27FC236}">
                <a16:creationId xmlns:a16="http://schemas.microsoft.com/office/drawing/2014/main" id="{965D18B5-6766-89B5-ADF3-4F9E55DF3F89}"/>
              </a:ext>
            </a:extLst>
          </p:cNvPr>
          <p:cNvSpPr txBox="1"/>
          <p:nvPr/>
        </p:nvSpPr>
        <p:spPr>
          <a:xfrm>
            <a:off x="571500" y="223837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Hipótesis</a:t>
            </a:r>
            <a:endParaRPr/>
          </a:p>
        </p:txBody>
      </p:sp>
      <p:sp>
        <p:nvSpPr>
          <p:cNvPr id="134" name="Google Shape;134;p18">
            <a:extLst>
              <a:ext uri="{FF2B5EF4-FFF2-40B4-BE49-F238E27FC236}">
                <a16:creationId xmlns:a16="http://schemas.microsoft.com/office/drawing/2014/main" id="{F61C85FC-784D-9E4F-ADC8-3B939BB0902C}"/>
              </a:ext>
            </a:extLst>
          </p:cNvPr>
          <p:cNvSpPr txBox="1"/>
          <p:nvPr/>
        </p:nvSpPr>
        <p:spPr>
          <a:xfrm>
            <a:off x="571500" y="2867025"/>
            <a:ext cx="5286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peor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NutriScore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más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cercano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E)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implica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mayor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contenido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azúcar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grasa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y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sal</a:t>
            </a:r>
            <a:endParaRPr dirty="0"/>
          </a:p>
        </p:txBody>
      </p:sp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24746D1D-863A-1B63-9956-C389574E5CBB}"/>
              </a:ext>
            </a:extLst>
          </p:cNvPr>
          <p:cNvSpPr txBox="1"/>
          <p:nvPr/>
        </p:nvSpPr>
        <p:spPr>
          <a:xfrm>
            <a:off x="571500" y="355282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Resultado: VERIFICADA</a:t>
            </a:r>
            <a:endParaRPr/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199C1189-EA7C-F835-CBC6-5E8580A666D7}"/>
              </a:ext>
            </a:extLst>
          </p:cNvPr>
          <p:cNvSpPr txBox="1"/>
          <p:nvPr/>
        </p:nvSpPr>
        <p:spPr>
          <a:xfrm>
            <a:off x="571500" y="4181475"/>
            <a:ext cx="5286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Los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gráficos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(boxplots)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muestran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una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tendencia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clara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 las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medianas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azúcar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y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sal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aumentan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conforme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nota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empeora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</a:t>
            </a:r>
            <a:endParaRPr dirty="0"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13A11C86-F47A-5ED9-7508-D24E31D35495}"/>
              </a:ext>
            </a:extLst>
          </p:cNvPr>
          <p:cNvSpPr txBox="1"/>
          <p:nvPr/>
        </p:nvSpPr>
        <p:spPr>
          <a:xfrm>
            <a:off x="571500" y="5124450"/>
            <a:ext cx="5286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grasa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más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dispersa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pero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tendencia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mantiene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Posiblemente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debido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productos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grasas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saludables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B88464D5-8FE2-EE75-EDC1-A10C4C25F361}"/>
              </a:ext>
            </a:extLst>
          </p:cNvPr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H1: ¿Peor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NutriScore</a:t>
            </a: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 = Más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Azúcar</a:t>
            </a: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Grasa</a:t>
            </a: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 y Sal?</a:t>
            </a:r>
            <a:endParaRPr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08639E-56CD-0E62-5C42-8A30DB7399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4468" t="5204" r="8552" b="-1174"/>
          <a:stretch>
            <a:fillRect/>
          </a:stretch>
        </p:blipFill>
        <p:spPr>
          <a:xfrm>
            <a:off x="7005718" y="1671421"/>
            <a:ext cx="3885108" cy="478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355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22193" y="1766888"/>
            <a:ext cx="5838159" cy="430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9"/>
          <p:cNvSpPr txBox="1"/>
          <p:nvPr/>
        </p:nvSpPr>
        <p:spPr>
          <a:xfrm>
            <a:off x="571500" y="2062162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Hipótesis</a:t>
            </a:r>
            <a:endParaRPr/>
          </a:p>
        </p:txBody>
      </p:sp>
      <p:sp>
        <p:nvSpPr>
          <p:cNvPr id="146" name="Google Shape;146;p19"/>
          <p:cNvSpPr txBox="1"/>
          <p:nvPr/>
        </p:nvSpPr>
        <p:spPr>
          <a:xfrm>
            <a:off x="571500" y="2690812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 mayor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nivel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procesamiento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peor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NOVA),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peor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NutriScore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[cite: 1301].</a:t>
            </a:r>
            <a:endParaRPr dirty="0"/>
          </a:p>
        </p:txBody>
      </p:sp>
      <p:sp>
        <p:nvSpPr>
          <p:cNvPr id="147" name="Google Shape;147;p19"/>
          <p:cNvSpPr txBox="1"/>
          <p:nvPr/>
        </p:nvSpPr>
        <p:spPr>
          <a:xfrm>
            <a:off x="571500" y="3376612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Resultado: VERIFICADA</a:t>
            </a:r>
            <a:endParaRPr/>
          </a:p>
        </p:txBody>
      </p:sp>
      <p:sp>
        <p:nvSpPr>
          <p:cNvPr id="148" name="Google Shape;148;p19"/>
          <p:cNvSpPr txBox="1"/>
          <p:nvPr/>
        </p:nvSpPr>
        <p:spPr>
          <a:xfrm>
            <a:off x="571500" y="4005262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El NutriScore promedio empeora progresivamente.</a:t>
            </a:r>
            <a:endParaRPr/>
          </a:p>
        </p:txBody>
      </p:sp>
      <p:sp>
        <p:nvSpPr>
          <p:cNvPr id="150" name="Google Shape;150;p19"/>
          <p:cNvSpPr txBox="1"/>
          <p:nvPr/>
        </p:nvSpPr>
        <p:spPr>
          <a:xfrm>
            <a:off x="714375" y="4433887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1" name="Google Shape;151;p19"/>
          <p:cNvSpPr txBox="1"/>
          <p:nvPr/>
        </p:nvSpPr>
        <p:spPr>
          <a:xfrm>
            <a:off x="809625" y="4433887"/>
            <a:ext cx="504825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NOVA 1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(No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procesado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)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tiene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un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NutriScore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promedio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"A" (1.55) </a:t>
            </a:r>
            <a:endParaRPr dirty="0"/>
          </a:p>
        </p:txBody>
      </p:sp>
      <p:sp>
        <p:nvSpPr>
          <p:cNvPr id="152" name="Google Shape;152;p19"/>
          <p:cNvSpPr txBox="1"/>
          <p:nvPr/>
        </p:nvSpPr>
        <p:spPr>
          <a:xfrm>
            <a:off x="714375" y="50911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3" name="Google Shape;153;p19"/>
          <p:cNvSpPr txBox="1"/>
          <p:nvPr/>
        </p:nvSpPr>
        <p:spPr>
          <a:xfrm>
            <a:off x="809625" y="5091112"/>
            <a:ext cx="504825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NOVA 4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Ultraprocesado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)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tiene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un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NutriScore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promedio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"D" (3.51).</a:t>
            </a:r>
            <a:endParaRPr dirty="0"/>
          </a:p>
        </p:txBody>
      </p:sp>
      <p:sp>
        <p:nvSpPr>
          <p:cNvPr id="154" name="Google Shape;154;p19"/>
          <p:cNvSpPr txBox="1"/>
          <p:nvPr/>
        </p:nvSpPr>
        <p:spPr>
          <a:xfrm>
            <a:off x="571500" y="51911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H2: ¿Peor NOVA = Peor NutriScore?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C56740A-6C0D-D6A3-5E9B-A355FD797A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27" r="7204"/>
          <a:stretch>
            <a:fillRect/>
          </a:stretch>
        </p:blipFill>
        <p:spPr>
          <a:xfrm>
            <a:off x="6334127" y="1938466"/>
            <a:ext cx="5361050" cy="40860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25311" y="1432085"/>
            <a:ext cx="5715001" cy="4316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0"/>
          <p:cNvSpPr txBox="1"/>
          <p:nvPr/>
        </p:nvSpPr>
        <p:spPr>
          <a:xfrm>
            <a:off x="571500" y="2033587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Hipótesis</a:t>
            </a:r>
            <a:endParaRPr/>
          </a:p>
        </p:txBody>
      </p:sp>
      <p:sp>
        <p:nvSpPr>
          <p:cNvPr id="161" name="Google Shape;161;p20"/>
          <p:cNvSpPr txBox="1"/>
          <p:nvPr/>
        </p:nvSpPr>
        <p:spPr>
          <a:xfrm>
            <a:off x="571500" y="2662237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Los productos bajos en calorías no siempre obtienen un buen NutriScore [cite: 1306].</a:t>
            </a:r>
            <a:endParaRPr/>
          </a:p>
        </p:txBody>
      </p:sp>
      <p:sp>
        <p:nvSpPr>
          <p:cNvPr id="162" name="Google Shape;162;p20"/>
          <p:cNvSpPr txBox="1"/>
          <p:nvPr/>
        </p:nvSpPr>
        <p:spPr>
          <a:xfrm>
            <a:off x="571500" y="3348037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Resultado: VERIFICADA</a:t>
            </a:r>
            <a:endParaRPr/>
          </a:p>
        </p:txBody>
      </p:sp>
      <p:sp>
        <p:nvSpPr>
          <p:cNvPr id="163" name="Google Shape;163;p20"/>
          <p:cNvSpPr txBox="1"/>
          <p:nvPr/>
        </p:nvSpPr>
        <p:spPr>
          <a:xfrm>
            <a:off x="571500" y="3976687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Analizamos productos con menos de 100 kcal.</a:t>
            </a:r>
            <a:endParaRPr/>
          </a:p>
        </p:txBody>
      </p:sp>
      <p:sp>
        <p:nvSpPr>
          <p:cNvPr id="164" name="Google Shape;164;p20"/>
          <p:cNvSpPr txBox="1"/>
          <p:nvPr/>
        </p:nvSpPr>
        <p:spPr>
          <a:xfrm>
            <a:off x="571500" y="4405312"/>
            <a:ext cx="5286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Aunque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mayoría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son A (37.2%) [cite: 1228] o B (30.9%), un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sorprendente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31.8%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tiene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notas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C, D o E.</a:t>
            </a:r>
            <a:endParaRPr dirty="0"/>
          </a:p>
        </p:txBody>
      </p:sp>
      <p:sp>
        <p:nvSpPr>
          <p:cNvPr id="165" name="Google Shape;165;p20"/>
          <p:cNvSpPr txBox="1"/>
          <p:nvPr/>
        </p:nvSpPr>
        <p:spPr>
          <a:xfrm>
            <a:off x="571500" y="5091112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Conclusión: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Ser "bajo en calorías" no es garantía de buena calidad nutricional.</a:t>
            </a:r>
            <a:endParaRPr/>
          </a:p>
        </p:txBody>
      </p:sp>
      <p:sp>
        <p:nvSpPr>
          <p:cNvPr id="167" name="Google Shape;167;p20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H3: ¿Bajo en Calorías = "Saludable"?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316DCD7-CDB4-40AA-169A-A89D5C53B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4943" y="1585424"/>
            <a:ext cx="5550693" cy="40200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1">
          <a:extLst>
            <a:ext uri="{FF2B5EF4-FFF2-40B4-BE49-F238E27FC236}">
              <a16:creationId xmlns:a16="http://schemas.microsoft.com/office/drawing/2014/main" id="{2925D7E7-6FA0-3B43-79C1-E8B6CE7C8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1">
            <a:extLst>
              <a:ext uri="{FF2B5EF4-FFF2-40B4-BE49-F238E27FC236}">
                <a16:creationId xmlns:a16="http://schemas.microsoft.com/office/drawing/2014/main" id="{C4E37827-EDDA-03D9-B01E-85D55243807D}"/>
              </a:ext>
            </a:extLst>
          </p:cNvPr>
          <p:cNvSpPr txBox="1"/>
          <p:nvPr/>
        </p:nvSpPr>
        <p:spPr>
          <a:xfrm>
            <a:off x="571500" y="571500"/>
            <a:ext cx="555069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H4: El Punto Ciego de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NutriScore</a:t>
            </a:r>
            <a:endParaRPr dirty="0"/>
          </a:p>
        </p:txBody>
      </p:sp>
      <p:sp>
        <p:nvSpPr>
          <p:cNvPr id="174" name="Google Shape;174;p21">
            <a:extLst>
              <a:ext uri="{FF2B5EF4-FFF2-40B4-BE49-F238E27FC236}">
                <a16:creationId xmlns:a16="http://schemas.microsoft.com/office/drawing/2014/main" id="{C2C81DF3-A8A6-7D85-7278-4F1A66912C19}"/>
              </a:ext>
            </a:extLst>
          </p:cNvPr>
          <p:cNvSpPr txBox="1"/>
          <p:nvPr/>
        </p:nvSpPr>
        <p:spPr>
          <a:xfrm>
            <a:off x="571500" y="2095500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Hipótesis</a:t>
            </a:r>
            <a:endParaRPr/>
          </a:p>
        </p:txBody>
      </p:sp>
      <p:sp>
        <p:nvSpPr>
          <p:cNvPr id="175" name="Google Shape;175;p21">
            <a:extLst>
              <a:ext uri="{FF2B5EF4-FFF2-40B4-BE49-F238E27FC236}">
                <a16:creationId xmlns:a16="http://schemas.microsoft.com/office/drawing/2014/main" id="{71215AAD-6875-D158-9C58-1613C4C3B9AF}"/>
              </a:ext>
            </a:extLst>
          </p:cNvPr>
          <p:cNvSpPr txBox="1"/>
          <p:nvPr/>
        </p:nvSpPr>
        <p:spPr>
          <a:xfrm>
            <a:off x="571500" y="2867025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Dentro de los Ultraprocesados (NOVA 4), NutriScore </a:t>
            </a:r>
            <a:r>
              <a:rPr lang="en-US" sz="1350" b="1" i="0" u="none" strike="noStrike" cap="none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no</a:t>
            </a:r>
            <a:r>
              <a:rPr lang="en-US" sz="1350" b="0" i="0" u="none" strike="noStrike" cap="none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diferencia bien la calidad [cite: 1307].</a:t>
            </a:r>
            <a:endParaRPr/>
          </a:p>
        </p:txBody>
      </p:sp>
      <p:sp>
        <p:nvSpPr>
          <p:cNvPr id="176" name="Google Shape;176;p21">
            <a:extLst>
              <a:ext uri="{FF2B5EF4-FFF2-40B4-BE49-F238E27FC236}">
                <a16:creationId xmlns:a16="http://schemas.microsoft.com/office/drawing/2014/main" id="{65B0950B-0BA1-C6AC-20CF-0A88DA5D19A9}"/>
              </a:ext>
            </a:extLst>
          </p:cNvPr>
          <p:cNvSpPr txBox="1"/>
          <p:nvPr/>
        </p:nvSpPr>
        <p:spPr>
          <a:xfrm>
            <a:off x="571500" y="356800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Resultado: VERIFICADA</a:t>
            </a:r>
            <a:endParaRPr/>
          </a:p>
        </p:txBody>
      </p:sp>
      <p:sp>
        <p:nvSpPr>
          <p:cNvPr id="177" name="Google Shape;177;p21">
            <a:extLst>
              <a:ext uri="{FF2B5EF4-FFF2-40B4-BE49-F238E27FC236}">
                <a16:creationId xmlns:a16="http://schemas.microsoft.com/office/drawing/2014/main" id="{9281B6D2-DDBF-1B46-D3A7-90558BCDE84F}"/>
              </a:ext>
            </a:extLst>
          </p:cNvPr>
          <p:cNvSpPr txBox="1"/>
          <p:nvPr/>
        </p:nvSpPr>
        <p:spPr>
          <a:xfrm>
            <a:off x="571500" y="4339530"/>
            <a:ext cx="528637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Este es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el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hallazgo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clave.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Dentro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del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grupo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NOVA 4, un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producto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"A"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puede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tener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misma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cantidad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sal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un "D" .</a:t>
            </a:r>
            <a:endParaRPr dirty="0"/>
          </a:p>
        </p:txBody>
      </p:sp>
      <p:sp>
        <p:nvSpPr>
          <p:cNvPr id="178" name="Google Shape;178;p21">
            <a:extLst>
              <a:ext uri="{FF2B5EF4-FFF2-40B4-BE49-F238E27FC236}">
                <a16:creationId xmlns:a16="http://schemas.microsoft.com/office/drawing/2014/main" id="{4D95CD2F-2596-F08B-7A46-E7E558946D9A}"/>
              </a:ext>
            </a:extLst>
          </p:cNvPr>
          <p:cNvSpPr txBox="1"/>
          <p:nvPr/>
        </p:nvSpPr>
        <p:spPr>
          <a:xfrm>
            <a:off x="571500" y="5211960"/>
            <a:ext cx="528637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NutriScore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penaliza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por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un factor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dominante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pero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permite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otros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nutrientes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varíen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sin control.</a:t>
            </a:r>
            <a:endParaRPr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F2391DD-2A48-6DAD-5F40-1C3E1F8206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" t="5414" r="66140" b="940"/>
          <a:stretch>
            <a:fillRect/>
          </a:stretch>
        </p:blipFill>
        <p:spPr>
          <a:xfrm>
            <a:off x="6261284" y="730577"/>
            <a:ext cx="5286376" cy="5146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794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1"/>
          <p:cNvSpPr txBox="1"/>
          <p:nvPr/>
        </p:nvSpPr>
        <p:spPr>
          <a:xfrm>
            <a:off x="571500" y="571500"/>
            <a:ext cx="555069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H4: El Punto Ciego de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NutriScore</a:t>
            </a:r>
            <a:endParaRPr dirty="0"/>
          </a:p>
        </p:txBody>
      </p:sp>
      <p:sp>
        <p:nvSpPr>
          <p:cNvPr id="174" name="Google Shape;174;p21"/>
          <p:cNvSpPr txBox="1"/>
          <p:nvPr/>
        </p:nvSpPr>
        <p:spPr>
          <a:xfrm>
            <a:off x="571500" y="2095500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Hipótesis</a:t>
            </a:r>
            <a:endParaRPr/>
          </a:p>
        </p:txBody>
      </p:sp>
      <p:sp>
        <p:nvSpPr>
          <p:cNvPr id="175" name="Google Shape;175;p21"/>
          <p:cNvSpPr txBox="1"/>
          <p:nvPr/>
        </p:nvSpPr>
        <p:spPr>
          <a:xfrm>
            <a:off x="571500" y="2867025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Dentro de los Ultraprocesados (NOVA 4), NutriScore </a:t>
            </a:r>
            <a:r>
              <a:rPr lang="en-US" sz="1350" b="1" i="0" u="none" strike="noStrike" cap="none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no</a:t>
            </a:r>
            <a:r>
              <a:rPr lang="en-US" sz="1350" b="0" i="0" u="none" strike="noStrike" cap="none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diferencia bien la calidad [cite: 1307].</a:t>
            </a:r>
            <a:endParaRPr/>
          </a:p>
        </p:txBody>
      </p:sp>
      <p:sp>
        <p:nvSpPr>
          <p:cNvPr id="176" name="Google Shape;176;p21"/>
          <p:cNvSpPr txBox="1"/>
          <p:nvPr/>
        </p:nvSpPr>
        <p:spPr>
          <a:xfrm>
            <a:off x="571500" y="356800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Resultado: VERIFICADA</a:t>
            </a:r>
            <a:endParaRPr/>
          </a:p>
        </p:txBody>
      </p:sp>
      <p:sp>
        <p:nvSpPr>
          <p:cNvPr id="177" name="Google Shape;177;p21"/>
          <p:cNvSpPr txBox="1"/>
          <p:nvPr/>
        </p:nvSpPr>
        <p:spPr>
          <a:xfrm>
            <a:off x="571500" y="4339530"/>
            <a:ext cx="528637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Este es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el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hallazgo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clave.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Dentro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del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grupo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NOVA 4, un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producto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"A"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puede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tener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misma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cantidad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sal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un "D" .</a:t>
            </a:r>
            <a:endParaRPr dirty="0"/>
          </a:p>
        </p:txBody>
      </p:sp>
      <p:sp>
        <p:nvSpPr>
          <p:cNvPr id="178" name="Google Shape;178;p21"/>
          <p:cNvSpPr txBox="1"/>
          <p:nvPr/>
        </p:nvSpPr>
        <p:spPr>
          <a:xfrm>
            <a:off x="571500" y="5211960"/>
            <a:ext cx="528637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NutriScore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penaliza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por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un factor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dominante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pero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permite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otros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nutrientes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varíen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sin control.</a:t>
            </a:r>
            <a:endParaRPr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CAB7F41-E58F-9903-F456-B6E82A78D8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904" t="4972"/>
          <a:stretch>
            <a:fillRect/>
          </a:stretch>
        </p:blipFill>
        <p:spPr>
          <a:xfrm>
            <a:off x="6424058" y="956921"/>
            <a:ext cx="5196442" cy="52221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1">
          <a:extLst>
            <a:ext uri="{FF2B5EF4-FFF2-40B4-BE49-F238E27FC236}">
              <a16:creationId xmlns:a16="http://schemas.microsoft.com/office/drawing/2014/main" id="{9E16DE97-1E97-1C7E-DBDA-8B6FBC8AF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1">
            <a:extLst>
              <a:ext uri="{FF2B5EF4-FFF2-40B4-BE49-F238E27FC236}">
                <a16:creationId xmlns:a16="http://schemas.microsoft.com/office/drawing/2014/main" id="{2D483A0F-2DA4-363D-9112-2FE80EBB5E90}"/>
              </a:ext>
            </a:extLst>
          </p:cNvPr>
          <p:cNvSpPr txBox="1"/>
          <p:nvPr/>
        </p:nvSpPr>
        <p:spPr>
          <a:xfrm>
            <a:off x="571500" y="571500"/>
            <a:ext cx="555069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H4: El Punto Ciego de </a:t>
            </a:r>
            <a:r>
              <a:rPr lang="en-US" sz="3000" b="0" i="0" u="none" strike="noStrike" cap="none" dirty="0" err="1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NutriScore</a:t>
            </a:r>
            <a:endParaRPr dirty="0"/>
          </a:p>
        </p:txBody>
      </p:sp>
      <p:sp>
        <p:nvSpPr>
          <p:cNvPr id="174" name="Google Shape;174;p21">
            <a:extLst>
              <a:ext uri="{FF2B5EF4-FFF2-40B4-BE49-F238E27FC236}">
                <a16:creationId xmlns:a16="http://schemas.microsoft.com/office/drawing/2014/main" id="{7A6D96B0-B6BA-881C-0BC1-55FF05E3F5D5}"/>
              </a:ext>
            </a:extLst>
          </p:cNvPr>
          <p:cNvSpPr txBox="1"/>
          <p:nvPr/>
        </p:nvSpPr>
        <p:spPr>
          <a:xfrm>
            <a:off x="571500" y="2095500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Hipótesis</a:t>
            </a:r>
            <a:endParaRPr/>
          </a:p>
        </p:txBody>
      </p:sp>
      <p:sp>
        <p:nvSpPr>
          <p:cNvPr id="175" name="Google Shape;175;p21">
            <a:extLst>
              <a:ext uri="{FF2B5EF4-FFF2-40B4-BE49-F238E27FC236}">
                <a16:creationId xmlns:a16="http://schemas.microsoft.com/office/drawing/2014/main" id="{BA58FD8F-DE21-1BF0-1391-B23E5FDAF5AB}"/>
              </a:ext>
            </a:extLst>
          </p:cNvPr>
          <p:cNvSpPr txBox="1"/>
          <p:nvPr/>
        </p:nvSpPr>
        <p:spPr>
          <a:xfrm>
            <a:off x="571500" y="2867025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Dentro de los Ultraprocesados (NOVA 4), NutriScore </a:t>
            </a:r>
            <a:r>
              <a:rPr lang="en-US" sz="1350" b="1" i="0" u="none" strike="noStrike" cap="none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no</a:t>
            </a:r>
            <a:r>
              <a:rPr lang="en-US" sz="1350" b="0" i="0" u="none" strike="noStrike" cap="none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diferencia bien la calidad [cite: 1307].</a:t>
            </a:r>
            <a:endParaRPr/>
          </a:p>
        </p:txBody>
      </p:sp>
      <p:sp>
        <p:nvSpPr>
          <p:cNvPr id="176" name="Google Shape;176;p21">
            <a:extLst>
              <a:ext uri="{FF2B5EF4-FFF2-40B4-BE49-F238E27FC236}">
                <a16:creationId xmlns:a16="http://schemas.microsoft.com/office/drawing/2014/main" id="{7B30F829-6952-2B7C-8DC1-E9ADD7F07B82}"/>
              </a:ext>
            </a:extLst>
          </p:cNvPr>
          <p:cNvSpPr txBox="1"/>
          <p:nvPr/>
        </p:nvSpPr>
        <p:spPr>
          <a:xfrm>
            <a:off x="571500" y="356800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Resultado: VERIFICADA</a:t>
            </a:r>
            <a:endParaRPr/>
          </a:p>
        </p:txBody>
      </p:sp>
      <p:sp>
        <p:nvSpPr>
          <p:cNvPr id="177" name="Google Shape;177;p21">
            <a:extLst>
              <a:ext uri="{FF2B5EF4-FFF2-40B4-BE49-F238E27FC236}">
                <a16:creationId xmlns:a16="http://schemas.microsoft.com/office/drawing/2014/main" id="{CB50DC3D-04EA-A7D6-AC82-4F1B88202A5B}"/>
              </a:ext>
            </a:extLst>
          </p:cNvPr>
          <p:cNvSpPr txBox="1"/>
          <p:nvPr/>
        </p:nvSpPr>
        <p:spPr>
          <a:xfrm>
            <a:off x="571500" y="4339530"/>
            <a:ext cx="528637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Este es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el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hallazgo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clave.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Dentro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del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grupo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NOVA 4, un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producto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"A"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puede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tener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misma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cantidad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sal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un "D" .</a:t>
            </a:r>
            <a:endParaRPr dirty="0"/>
          </a:p>
        </p:txBody>
      </p:sp>
      <p:sp>
        <p:nvSpPr>
          <p:cNvPr id="178" name="Google Shape;178;p21">
            <a:extLst>
              <a:ext uri="{FF2B5EF4-FFF2-40B4-BE49-F238E27FC236}">
                <a16:creationId xmlns:a16="http://schemas.microsoft.com/office/drawing/2014/main" id="{38ADB6DF-66BB-6020-B7AF-D82106247E00}"/>
              </a:ext>
            </a:extLst>
          </p:cNvPr>
          <p:cNvSpPr txBox="1"/>
          <p:nvPr/>
        </p:nvSpPr>
        <p:spPr>
          <a:xfrm>
            <a:off x="571500" y="5211960"/>
            <a:ext cx="528637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NutriScore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penaliza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por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un factor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dominante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pero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permite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otros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nutrientes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varíen</a:t>
            </a:r>
            <a:r>
              <a:rPr lang="en-US" sz="1350" b="0" i="0" u="none" strike="noStrike" cap="none" dirty="0">
                <a:solidFill>
                  <a:srgbClr val="374151"/>
                </a:solidFill>
                <a:latin typeface="Lato"/>
                <a:ea typeface="Lato"/>
                <a:cs typeface="Lato"/>
                <a:sym typeface="Lato"/>
              </a:rPr>
              <a:t> sin control.</a:t>
            </a:r>
            <a:endParaRPr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8545755-890C-5EDC-F2D2-81B406E7B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5" t="5414" r="33063" b="940"/>
          <a:stretch>
            <a:fillRect/>
          </a:stretch>
        </p:blipFill>
        <p:spPr>
          <a:xfrm>
            <a:off x="6426331" y="842515"/>
            <a:ext cx="5194169" cy="5146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60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2356" y="1224153"/>
            <a:ext cx="3429000" cy="30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72356" y="1224153"/>
            <a:ext cx="3429000" cy="30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82356" y="1224153"/>
            <a:ext cx="3429000" cy="300037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2"/>
          <p:cNvSpPr txBox="1"/>
          <p:nvPr/>
        </p:nvSpPr>
        <p:spPr>
          <a:xfrm>
            <a:off x="1341739" y="2252853"/>
            <a:ext cx="1870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La Hipótesis</a:t>
            </a:r>
            <a:endParaRPr/>
          </a:p>
        </p:txBody>
      </p:sp>
      <p:sp>
        <p:nvSpPr>
          <p:cNvPr id="187" name="Google Shape;187;p22"/>
          <p:cNvSpPr txBox="1"/>
          <p:nvPr/>
        </p:nvSpPr>
        <p:spPr>
          <a:xfrm>
            <a:off x="857631" y="3024378"/>
            <a:ext cx="2838450" cy="934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Los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alimentos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más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consumidos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España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tienen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mal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NutriScore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y alto NOVA.</a:t>
            </a:r>
            <a:endParaRPr dirty="0"/>
          </a:p>
        </p:txBody>
      </p:sp>
      <p:sp>
        <p:nvSpPr>
          <p:cNvPr id="188" name="Google Shape;188;p22"/>
          <p:cNvSpPr txBox="1"/>
          <p:nvPr/>
        </p:nvSpPr>
        <p:spPr>
          <a:xfrm>
            <a:off x="4766691" y="2252853"/>
            <a:ext cx="264033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Realidad (NOVA)</a:t>
            </a:r>
            <a:endParaRPr/>
          </a:p>
        </p:txBody>
      </p:sp>
      <p:sp>
        <p:nvSpPr>
          <p:cNvPr id="189" name="Google Shape;189;p22"/>
          <p:cNvSpPr txBox="1"/>
          <p:nvPr/>
        </p:nvSpPr>
        <p:spPr>
          <a:xfrm>
            <a:off x="4667631" y="3024378"/>
            <a:ext cx="2838450" cy="934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16A085"/>
                </a:solidFill>
                <a:latin typeface="Lato"/>
                <a:ea typeface="Lato"/>
                <a:cs typeface="Lato"/>
                <a:sym typeface="Lato"/>
              </a:rPr>
              <a:t>VERIFICADA.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El grupo más grande es NOVA 4 (Ultraprocesados) con 37.5% [cite: 1278].</a:t>
            </a:r>
            <a:endParaRPr/>
          </a:p>
        </p:txBody>
      </p:sp>
      <p:sp>
        <p:nvSpPr>
          <p:cNvPr id="190" name="Google Shape;190;p22"/>
          <p:cNvSpPr txBox="1"/>
          <p:nvPr/>
        </p:nvSpPr>
        <p:spPr>
          <a:xfrm>
            <a:off x="8406669" y="2097405"/>
            <a:ext cx="2980372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Realidad</a:t>
            </a:r>
            <a:r>
              <a:rPr lang="en-US" sz="2400" b="0" i="0" u="none" strike="noStrike" cap="none" dirty="0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 (</a:t>
            </a:r>
            <a:r>
              <a:rPr lang="en-US" sz="2400" b="0" i="0" u="none" strike="noStrike" cap="none" dirty="0" err="1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NutriScore</a:t>
            </a:r>
            <a:r>
              <a:rPr lang="en-US" sz="2400" b="0" i="0" u="none" strike="noStrike" cap="none" dirty="0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 dirty="0"/>
          </a:p>
        </p:txBody>
      </p:sp>
      <p:sp>
        <p:nvSpPr>
          <p:cNvPr id="191" name="Google Shape;191;p22"/>
          <p:cNvSpPr txBox="1"/>
          <p:nvPr/>
        </p:nvSpPr>
        <p:spPr>
          <a:xfrm>
            <a:off x="8477631" y="2978658"/>
            <a:ext cx="2838450" cy="934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74C3C"/>
                </a:solidFill>
                <a:latin typeface="Lato"/>
                <a:ea typeface="Lato"/>
                <a:cs typeface="Lato"/>
                <a:sym typeface="Lato"/>
              </a:rPr>
              <a:t>RECHAZADA.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cesta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está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equilibrada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 Los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grupos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(20.8%) y B (25.0%) suman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más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 y E</a:t>
            </a:r>
            <a:endParaRPr dirty="0"/>
          </a:p>
        </p:txBody>
      </p:sp>
      <p:pic>
        <p:nvPicPr>
          <p:cNvPr id="192" name="Google Shape;192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19681" y="1567053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29681" y="1567053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725406" y="1567053"/>
            <a:ext cx="3429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2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H5: ¿Qué hay en la Cesta de la Compra?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3C470BE-8217-2601-86C8-6394E1A494A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7665" y="4273574"/>
            <a:ext cx="6344031" cy="2537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2900362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3"/>
          <p:cNvSpPr txBox="1"/>
          <p:nvPr/>
        </p:nvSpPr>
        <p:spPr>
          <a:xfrm>
            <a:off x="2238375" y="2852737"/>
            <a:ext cx="81438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NutriScore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sí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se correlaciona bien con azúcares y sal (H1) y con el procesamiento en general (H2).</a:t>
            </a:r>
            <a:endParaRPr/>
          </a:p>
        </p:txBody>
      </p:sp>
      <p:pic>
        <p:nvPicPr>
          <p:cNvPr id="202" name="Google Shape;20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367087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3"/>
          <p:cNvSpPr txBox="1"/>
          <p:nvPr/>
        </p:nvSpPr>
        <p:spPr>
          <a:xfrm>
            <a:off x="2238375" y="3319462"/>
            <a:ext cx="81438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Sin embargo, tiene "puntos ciegos": ser bajo en calorías no significa ser "A" o "B" (H3).</a:t>
            </a:r>
            <a:endParaRPr/>
          </a:p>
        </p:txBody>
      </p:sp>
      <p:pic>
        <p:nvPicPr>
          <p:cNvPr id="204" name="Google Shape;204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3833812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3"/>
          <p:cNvSpPr txBox="1"/>
          <p:nvPr/>
        </p:nvSpPr>
        <p:spPr>
          <a:xfrm>
            <a:off x="2238375" y="3786187"/>
            <a:ext cx="81438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Hallazgo Principal (H4):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NutriScore pierde su capacidad de discriminación dentro de la categoría de ultraprocesados.</a:t>
            </a:r>
            <a:endParaRPr/>
          </a:p>
        </p:txBody>
      </p:sp>
      <p:pic>
        <p:nvPicPr>
          <p:cNvPr id="206" name="Google Shape;206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09750" y="4538662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3"/>
          <p:cNvSpPr txBox="1"/>
          <p:nvPr/>
        </p:nvSpPr>
        <p:spPr>
          <a:xfrm>
            <a:off x="2238375" y="4491037"/>
            <a:ext cx="81438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Una visión completa requiere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ambas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métricas: NutriScore para la composición y NOVA para el procesamiento.</a:t>
            </a:r>
            <a:endParaRPr/>
          </a:p>
        </p:txBody>
      </p:sp>
      <p:sp>
        <p:nvSpPr>
          <p:cNvPr id="208" name="Google Shape;208;p23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Conclusiones Clave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4"/>
          <p:cNvSpPr txBox="1"/>
          <p:nvPr/>
        </p:nvSpPr>
        <p:spPr>
          <a:xfrm>
            <a:off x="295275" y="2490787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16A085"/>
                </a:solidFill>
                <a:latin typeface="Poppins"/>
                <a:ea typeface="Poppins"/>
                <a:cs typeface="Poppins"/>
                <a:sym typeface="Poppins"/>
              </a:rPr>
              <a:t>Gracias.</a:t>
            </a:r>
            <a:endParaRPr/>
          </a:p>
        </p:txBody>
      </p:sp>
      <p:sp>
        <p:nvSpPr>
          <p:cNvPr id="214" name="Google Shape;214;p24"/>
          <p:cNvSpPr txBox="1"/>
          <p:nvPr/>
        </p:nvSpPr>
        <p:spPr>
          <a:xfrm>
            <a:off x="571500" y="3843337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Preguntas y Respuestas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5"/>
          <p:cNvSpPr/>
          <p:nvPr/>
        </p:nvSpPr>
        <p:spPr>
          <a:xfrm>
            <a:off x="976312" y="2357437"/>
            <a:ext cx="102393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5"/>
          <p:cNvSpPr txBox="1"/>
          <p:nvPr/>
        </p:nvSpPr>
        <p:spPr>
          <a:xfrm>
            <a:off x="2071687" y="1978818"/>
            <a:ext cx="9144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 dirty="0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nutrifacil.es</a:t>
            </a:r>
          </a:p>
        </p:txBody>
      </p:sp>
      <p:sp>
        <p:nvSpPr>
          <p:cNvPr id="242" name="Google Shape;242;p2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Image Sources</a:t>
            </a:r>
            <a:endParaRPr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7164409-D5A6-719B-8866-F329C0C880EC}"/>
              </a:ext>
            </a:extLst>
          </p:cNvPr>
          <p:cNvSpPr txBox="1"/>
          <p:nvPr/>
        </p:nvSpPr>
        <p:spPr>
          <a:xfrm>
            <a:off x="1977390" y="1647228"/>
            <a:ext cx="6094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https://nutrifacil.es/problemas-nutricionales-del-etiquetado-nutriscore/</a:t>
            </a:r>
          </a:p>
        </p:txBody>
      </p:sp>
      <p:sp>
        <p:nvSpPr>
          <p:cNvPr id="4" name="Google Shape;226;p25">
            <a:extLst>
              <a:ext uri="{FF2B5EF4-FFF2-40B4-BE49-F238E27FC236}">
                <a16:creationId xmlns:a16="http://schemas.microsoft.com/office/drawing/2014/main" id="{D31A2BD2-4DC6-B1B7-D720-917DACEF8505}"/>
              </a:ext>
            </a:extLst>
          </p:cNvPr>
          <p:cNvSpPr txBox="1"/>
          <p:nvPr/>
        </p:nvSpPr>
        <p:spPr>
          <a:xfrm>
            <a:off x="2071687" y="2814636"/>
            <a:ext cx="9144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 dirty="0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nutrifacil.es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A5319DB-FC98-03F0-0EA4-A0DCA0345A8F}"/>
              </a:ext>
            </a:extLst>
          </p:cNvPr>
          <p:cNvSpPr txBox="1"/>
          <p:nvPr/>
        </p:nvSpPr>
        <p:spPr>
          <a:xfrm>
            <a:off x="1977390" y="2510211"/>
            <a:ext cx="6094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https://nutrifacil.es/problemas-nutricionales-del-etiquetado-nutriscore/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8D443F0-8072-779D-8380-E75FCE25A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56" y="2366962"/>
            <a:ext cx="1138682" cy="74913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F643E95-4D43-E16E-7C1F-6C9ABE4C7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56" y="1531178"/>
            <a:ext cx="1138683" cy="7491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1075</Words>
  <Application>Microsoft Office PowerPoint</Application>
  <PresentationFormat>Panorámica</PresentationFormat>
  <Paragraphs>90</Paragraphs>
  <Slides>18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Poppins</vt:lpstr>
      <vt:lpstr>Arial</vt:lpstr>
      <vt:lpstr>Lato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Sergio Martinez</dc:creator>
  <cp:lastModifiedBy>Sergio Martinez Rico</cp:lastModifiedBy>
  <cp:revision>2</cp:revision>
  <dcterms:modified xsi:type="dcterms:W3CDTF">2025-11-11T22:13:42Z</dcterms:modified>
</cp:coreProperties>
</file>